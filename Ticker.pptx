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5" r:id="rId6"/>
    <p:sldId id="266" r:id="rId7"/>
    <p:sldId id="267" r:id="rId8"/>
    <p:sldId id="268" r:id="rId9"/>
    <p:sldId id="269" r:id="rId10"/>
    <p:sldId id="260" r:id="rId11"/>
    <p:sldId id="27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0E0E"/>
    <a:srgbClr val="771212"/>
    <a:srgbClr val="EAFF25"/>
    <a:srgbClr val="F0A602"/>
    <a:srgbClr val="FFCC00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55BD-764A-4C55-BE35-63BD617C7B11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0ECFA-865C-4B5D-8177-78E7E786AF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4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1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2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26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44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3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70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63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15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979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286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4442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421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078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33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65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61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63DF329-5F54-42A5-A435-CFAC47AEA6FA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BCD0276-B27B-4E70-B721-30B35650D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015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gif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D68C38E-0BEE-426C-B4ED-FBE2CAEBE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8235" y="3157209"/>
            <a:ext cx="127869" cy="12786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E64253A-93BE-4825-B4EF-E477FAD9F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36645" y="3157209"/>
            <a:ext cx="127869" cy="127869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FB5BE4A-6A83-46BC-9A01-D76237EE2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34275" y="3163095"/>
            <a:ext cx="127869" cy="12786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0E52FB9-635B-43EC-8108-53E2C9F3C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5865" y="3163095"/>
            <a:ext cx="127869" cy="127869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E1C85DB-7098-4AFE-9395-F0528BC8A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39015" y="3163674"/>
            <a:ext cx="127869" cy="127869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F87FFE8-0896-418A-9F4C-AFEB58862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39015" y="3163674"/>
            <a:ext cx="127869" cy="127869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456452B8-369B-4AA3-8FBB-1AB006F6E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30605" y="3163673"/>
            <a:ext cx="127869" cy="1278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051E1-D1AB-4FFD-95AB-8ED93D513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8806" y="2360774"/>
            <a:ext cx="5015285" cy="1773809"/>
          </a:xfrm>
        </p:spPr>
        <p:txBody>
          <a:bodyPr>
            <a:noAutofit/>
          </a:bodyPr>
          <a:lstStyle/>
          <a:p>
            <a:r>
              <a:rPr lang="en-US" sz="12000" dirty="0">
                <a:solidFill>
                  <a:srgbClr val="771212"/>
                </a:solidFill>
                <a:latin typeface="Bendor-Medium" pitchFamily="2" charset="0"/>
              </a:rPr>
              <a:t>Ticker</a:t>
            </a:r>
            <a:endParaRPr lang="ru-RU" sz="12000" dirty="0">
              <a:solidFill>
                <a:srgbClr val="77121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E23C3E-E639-4AE5-9729-A873B2A96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959262" y="2067724"/>
            <a:ext cx="4874149" cy="960604"/>
          </a:xfrm>
        </p:spPr>
        <p:txBody>
          <a:bodyPr/>
          <a:lstStyle/>
          <a:p>
            <a:pPr algn="l" fontAlgn="base"/>
            <a:r>
              <a:rPr lang="ru-RU" sz="1800" dirty="0">
                <a:effectLst/>
                <a:latin typeface="Candara Light" panose="020E050203030302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Работу выполнили: Сушин Андрей Анатольевич</a:t>
            </a:r>
            <a:endParaRPr lang="ru-RU" sz="1800" dirty="0">
              <a:effectLst/>
              <a:latin typeface="Candara Light" panose="020E0502030303020204" pitchFamily="34" charset="0"/>
              <a:ea typeface="Times New Roman" panose="02020603050405020304" pitchFamily="18" charset="0"/>
            </a:endParaRPr>
          </a:p>
          <a:p>
            <a:pPr algn="l" fontAlgn="base"/>
            <a:r>
              <a:rPr lang="ru-RU" sz="1800" dirty="0">
                <a:effectLst/>
                <a:latin typeface="Candara Light" panose="020E050203030302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Научный руководитель: А.С. Байгашов</a:t>
            </a:r>
            <a:endParaRPr lang="ru-RU" sz="1800" dirty="0">
              <a:effectLst/>
              <a:latin typeface="Candara Light" panose="020E0502030303020204" pitchFamily="34" charset="0"/>
              <a:ea typeface="Times New Roman" panose="02020603050405020304" pitchFamily="18" charset="0"/>
            </a:endParaRPr>
          </a:p>
          <a:p>
            <a:endParaRPr lang="ru-RU" dirty="0">
              <a:solidFill>
                <a:srgbClr val="FFD700"/>
              </a:solidFill>
            </a:endParaRPr>
          </a:p>
        </p:txBody>
      </p:sp>
      <p:sp>
        <p:nvSpPr>
          <p:cNvPr id="4" name="Надпись 2">
            <a:extLst>
              <a:ext uri="{FF2B5EF4-FFF2-40B4-BE49-F238E27FC236}">
                <a16:creationId xmlns:a16="http://schemas.microsoft.com/office/drawing/2014/main" id="{0FB23CFE-DC11-4C9E-B8B8-F4703A2E91E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0407970" y="4441486"/>
            <a:ext cx="4271010" cy="3371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C00000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Author: Andrew Sushin [</a:t>
            </a:r>
            <a:r>
              <a:rPr lang="en-US" sz="1600" dirty="0">
                <a:solidFill>
                  <a:srgbClr val="C00000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 2021 The Astromodel]</a:t>
            </a:r>
            <a:endParaRPr lang="ru-RU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36FCFF-CEBE-493B-8BE1-6F8D1292A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300" y="7090585"/>
            <a:ext cx="3404887" cy="3793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48F9AA-3F58-45ED-8679-6ECD0284C0AF}"/>
              </a:ext>
            </a:extLst>
          </p:cNvPr>
          <p:cNvSpPr txBox="1"/>
          <p:nvPr/>
        </p:nvSpPr>
        <p:spPr>
          <a:xfrm>
            <a:off x="7696782" y="10883780"/>
            <a:ext cx="50152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C00000"/>
                </a:solidFill>
                <a:latin typeface="Candara Light" panose="020E0502030303020204" pitchFamily="34" charset="0"/>
              </a:rPr>
              <a:t>Все ссылки приведены в моей научной статье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7B0D48-73B8-456D-B2F9-E6EDE3E32434}"/>
              </a:ext>
            </a:extLst>
          </p:cNvPr>
          <p:cNvSpPr txBox="1"/>
          <p:nvPr/>
        </p:nvSpPr>
        <p:spPr>
          <a:xfrm>
            <a:off x="-1620323" y="2983876"/>
            <a:ext cx="1412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Аннотация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3AD425-5532-464E-A89D-C3B9EB567D6B}"/>
              </a:ext>
            </a:extLst>
          </p:cNvPr>
          <p:cNvSpPr txBox="1"/>
          <p:nvPr/>
        </p:nvSpPr>
        <p:spPr>
          <a:xfrm>
            <a:off x="-2734068" y="3504793"/>
            <a:ext cx="1412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Введение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E7F4CB-9AE6-4C49-BBF7-D6F7181E6368}"/>
              </a:ext>
            </a:extLst>
          </p:cNvPr>
          <p:cNvSpPr txBox="1"/>
          <p:nvPr/>
        </p:nvSpPr>
        <p:spPr>
          <a:xfrm>
            <a:off x="-3852409" y="4025708"/>
            <a:ext cx="2236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Постановка задачи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DE7ADE-AFE2-44FF-9F79-28B5F6CA6F2D}"/>
              </a:ext>
            </a:extLst>
          </p:cNvPr>
          <p:cNvSpPr txBox="1"/>
          <p:nvPr/>
        </p:nvSpPr>
        <p:spPr>
          <a:xfrm>
            <a:off x="-5629605" y="4546624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Начальные условия и параметры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E9A92C-510A-431E-961B-6C2F81E62973}"/>
              </a:ext>
            </a:extLst>
          </p:cNvPr>
          <p:cNvSpPr txBox="1"/>
          <p:nvPr/>
        </p:nvSpPr>
        <p:spPr>
          <a:xfrm>
            <a:off x="-6188660" y="5071007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Результаты выполнения задачи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6B15C-07A6-4034-9EC5-DFA08FF45619}"/>
              </a:ext>
            </a:extLst>
          </p:cNvPr>
          <p:cNvSpPr txBox="1"/>
          <p:nvPr/>
        </p:nvSpPr>
        <p:spPr>
          <a:xfrm>
            <a:off x="-6886646" y="5595390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Заключения и перспективы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8501A5-0AF3-40D8-8F24-E732E040E314}"/>
              </a:ext>
            </a:extLst>
          </p:cNvPr>
          <p:cNvSpPr txBox="1"/>
          <p:nvPr/>
        </p:nvSpPr>
        <p:spPr>
          <a:xfrm>
            <a:off x="-7339015" y="6119773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231292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051E1-D1AB-4FFD-95AB-8ED93D513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322" y="293915"/>
            <a:ext cx="4874148" cy="1773809"/>
          </a:xfrm>
        </p:spPr>
        <p:txBody>
          <a:bodyPr>
            <a:noAutofit/>
          </a:bodyPr>
          <a:lstStyle/>
          <a:p>
            <a:r>
              <a:rPr lang="en-US" sz="12000" dirty="0">
                <a:solidFill>
                  <a:srgbClr val="771212"/>
                </a:solidFill>
                <a:latin typeface="Bendor-Medium" pitchFamily="2" charset="0"/>
              </a:rPr>
              <a:t>Ticker</a:t>
            </a:r>
            <a:endParaRPr lang="ru-RU" sz="12000" dirty="0">
              <a:solidFill>
                <a:srgbClr val="77121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E23C3E-E639-4AE5-9729-A873B2A96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322" y="2067724"/>
            <a:ext cx="4874149" cy="960604"/>
          </a:xfrm>
        </p:spPr>
        <p:txBody>
          <a:bodyPr/>
          <a:lstStyle/>
          <a:p>
            <a:pPr algn="l" fontAlgn="base"/>
            <a:r>
              <a:rPr lang="ru-RU" sz="1800" dirty="0">
                <a:effectLst/>
                <a:latin typeface="Candara Light" panose="020E050203030302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Работу выполнили: Сушин Андрей Анатольевич</a:t>
            </a:r>
            <a:endParaRPr lang="ru-RU" sz="1800" dirty="0">
              <a:effectLst/>
              <a:latin typeface="Candara Light" panose="020E0502030303020204" pitchFamily="34" charset="0"/>
              <a:ea typeface="Times New Roman" panose="02020603050405020304" pitchFamily="18" charset="0"/>
            </a:endParaRPr>
          </a:p>
          <a:p>
            <a:pPr algn="l" fontAlgn="base"/>
            <a:r>
              <a:rPr lang="ru-RU" sz="1800" dirty="0">
                <a:effectLst/>
                <a:latin typeface="Candara Light" panose="020E050203030302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Научный руководитель: А.С. Байгашов</a:t>
            </a:r>
            <a:endParaRPr lang="ru-RU" sz="1800" dirty="0">
              <a:effectLst/>
              <a:latin typeface="Candara Light" panose="020E0502030303020204" pitchFamily="34" charset="0"/>
              <a:ea typeface="Times New Roman" panose="02020603050405020304" pitchFamily="18" charset="0"/>
            </a:endParaRPr>
          </a:p>
          <a:p>
            <a:endParaRPr lang="ru-RU" dirty="0">
              <a:solidFill>
                <a:srgbClr val="FFD700"/>
              </a:solidFill>
            </a:endParaRPr>
          </a:p>
        </p:txBody>
      </p:sp>
      <p:sp>
        <p:nvSpPr>
          <p:cNvPr id="4" name="Надпись 2">
            <a:extLst>
              <a:ext uri="{FF2B5EF4-FFF2-40B4-BE49-F238E27FC236}">
                <a16:creationId xmlns:a16="http://schemas.microsoft.com/office/drawing/2014/main" id="{0FB23CFE-DC11-4C9E-B8B8-F4703A2E91E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9757881" y="4441486"/>
            <a:ext cx="4271010" cy="3371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C00000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Author: Andrew Sushin [</a:t>
            </a:r>
            <a:r>
              <a:rPr lang="en-US" sz="1600" dirty="0">
                <a:solidFill>
                  <a:srgbClr val="C00000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 2021 The Astromodel]</a:t>
            </a:r>
            <a:endParaRPr lang="ru-RU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36FCFF-CEBE-493B-8BE1-6F8D1292A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82" y="2581373"/>
            <a:ext cx="3404887" cy="3793195"/>
          </a:xfrm>
          <a:prstGeom prst="rect">
            <a:avLst/>
          </a:prstGeom>
          <a:effectLst>
            <a:outerShdw dist="50800" dir="4800000" sx="1000" sy="1000" algn="ctr" rotWithShape="0">
              <a:srgbClr val="000000"/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48F9AA-3F58-45ED-8679-6ECD0284C0AF}"/>
              </a:ext>
            </a:extLst>
          </p:cNvPr>
          <p:cNvSpPr txBox="1"/>
          <p:nvPr/>
        </p:nvSpPr>
        <p:spPr>
          <a:xfrm>
            <a:off x="7696782" y="6407030"/>
            <a:ext cx="50152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C00000"/>
                </a:solidFill>
                <a:latin typeface="Candara Light" panose="020E0502030303020204" pitchFamily="34" charset="0"/>
              </a:rPr>
              <a:t>Все ссылки приведены в моей научной статье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7B0D48-73B8-456D-B2F9-E6EDE3E32434}"/>
              </a:ext>
            </a:extLst>
          </p:cNvPr>
          <p:cNvSpPr txBox="1"/>
          <p:nvPr/>
        </p:nvSpPr>
        <p:spPr>
          <a:xfrm>
            <a:off x="1166224" y="2983876"/>
            <a:ext cx="1412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Аннотация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3AD425-5532-464E-A89D-C3B9EB567D6B}"/>
              </a:ext>
            </a:extLst>
          </p:cNvPr>
          <p:cNvSpPr txBox="1"/>
          <p:nvPr/>
        </p:nvSpPr>
        <p:spPr>
          <a:xfrm>
            <a:off x="1166223" y="3504793"/>
            <a:ext cx="14120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Введение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E7F4CB-9AE6-4C49-BBF7-D6F7181E6368}"/>
              </a:ext>
            </a:extLst>
          </p:cNvPr>
          <p:cNvSpPr txBox="1"/>
          <p:nvPr/>
        </p:nvSpPr>
        <p:spPr>
          <a:xfrm>
            <a:off x="1166223" y="4025708"/>
            <a:ext cx="2236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Постановка задачи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DE7ADE-AFE2-44FF-9F79-28B5F6CA6F2D}"/>
              </a:ext>
            </a:extLst>
          </p:cNvPr>
          <p:cNvSpPr txBox="1"/>
          <p:nvPr/>
        </p:nvSpPr>
        <p:spPr>
          <a:xfrm>
            <a:off x="1166223" y="4546624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Начальные условия и параметры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E9A92C-510A-431E-961B-6C2F81E62973}"/>
              </a:ext>
            </a:extLst>
          </p:cNvPr>
          <p:cNvSpPr txBox="1"/>
          <p:nvPr/>
        </p:nvSpPr>
        <p:spPr>
          <a:xfrm>
            <a:off x="1157987" y="5071007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Результаты выполнения задачи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6B15C-07A6-4034-9EC5-DFA08FF45619}"/>
              </a:ext>
            </a:extLst>
          </p:cNvPr>
          <p:cNvSpPr txBox="1"/>
          <p:nvPr/>
        </p:nvSpPr>
        <p:spPr>
          <a:xfrm>
            <a:off x="1166223" y="5595390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Заключения и перспективы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8501A5-0AF3-40D8-8F24-E732E040E314}"/>
              </a:ext>
            </a:extLst>
          </p:cNvPr>
          <p:cNvSpPr txBox="1"/>
          <p:nvPr/>
        </p:nvSpPr>
        <p:spPr>
          <a:xfrm>
            <a:off x="1157483" y="6119773"/>
            <a:ext cx="3751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andara Light" panose="020E0502030303020204" pitchFamily="34" charset="0"/>
              </a:rPr>
              <a:t>Приложения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B8CCD9-445B-43DE-A524-C87E025B2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5" y="5950982"/>
            <a:ext cx="676135" cy="67613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38C7FDC-468D-4522-9CA0-C16281BC1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4" y="5426599"/>
            <a:ext cx="676135" cy="67613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6E62972-EA7A-4C7A-B920-A016CDB7F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4" y="4902216"/>
            <a:ext cx="676135" cy="67613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4A7132C-AC59-489D-AD62-D73FED565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3" y="4377833"/>
            <a:ext cx="676135" cy="67613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2BFE586-8E67-492F-8183-463B32915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2" y="3856917"/>
            <a:ext cx="676135" cy="676135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D9690A7-666B-4502-BA02-12D81012B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2" y="3336002"/>
            <a:ext cx="676135" cy="67613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263948E-178E-4E89-8BD7-C39F0DFB5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1" y="2811618"/>
            <a:ext cx="676135" cy="676135"/>
          </a:xfrm>
          <a:prstGeom prst="rect">
            <a:avLst/>
          </a:prstGeom>
        </p:spPr>
      </p:pic>
      <p:sp>
        <p:nvSpPr>
          <p:cNvPr id="31" name="Объект 2">
            <a:extLst>
              <a:ext uri="{FF2B5EF4-FFF2-40B4-BE49-F238E27FC236}">
                <a16:creationId xmlns:a16="http://schemas.microsoft.com/office/drawing/2014/main" id="{C2CDB02F-7BEC-496B-98E6-00896879A488}"/>
              </a:ext>
            </a:extLst>
          </p:cNvPr>
          <p:cNvSpPr txBox="1">
            <a:spLocks/>
          </p:cNvSpPr>
          <p:nvPr/>
        </p:nvSpPr>
        <p:spPr>
          <a:xfrm>
            <a:off x="-5304930" y="2397547"/>
            <a:ext cx="5141419" cy="427101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моей научной статье я подробно разобрал свойства осциллятора, описал  физические процессы и представил реальную математическую модель маятника, написанную на языке программирования </a:t>
            </a:r>
            <a:r>
              <a:rPr lang="en-US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Рассказал, как на практике применяют маятники. </a:t>
            </a:r>
          </a:p>
          <a:p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Просмотрев презентацию вы узнаете</a:t>
            </a:r>
            <a:r>
              <a:rPr lang="en-US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Candara Light" panose="020E0502030303020204" pitchFamily="34" charset="0"/>
            </a:endParaRPr>
          </a:p>
          <a:p>
            <a:r>
              <a:rPr lang="ru-RU" sz="1800" dirty="0">
                <a:latin typeface="Candara Light" panose="020E0502030303020204" pitchFamily="34" charset="0"/>
              </a:rPr>
              <a:t>Как при помощи маятника найти золото?</a:t>
            </a:r>
          </a:p>
          <a:p>
            <a:r>
              <a:rPr lang="ru-RU" sz="1800" dirty="0">
                <a:latin typeface="Candara Light" panose="020E0502030303020204" pitchFamily="34" charset="0"/>
              </a:rPr>
              <a:t>Зачем люди стреляют по осциллятору ?</a:t>
            </a:r>
          </a:p>
          <a:p>
            <a:r>
              <a:rPr lang="ru-RU" sz="1800" dirty="0">
                <a:latin typeface="Candara Light" panose="020E0502030303020204" pitchFamily="34" charset="0"/>
              </a:rPr>
              <a:t>И при чём здесь дифференциальное уравнение колебаний ?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20802CF-351A-44C5-9F7F-E068AA2BA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5600670"/>
            <a:ext cx="5488103" cy="537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2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8DCED31-5680-4F78-870D-041CF3CFB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60316"/>
            <a:ext cx="5141419" cy="4271010"/>
          </a:xfrm>
        </p:spPr>
        <p:txBody>
          <a:bodyPr/>
          <a:lstStyle/>
          <a:p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моей научной статье я подробно разобрал свойства осциллятора, описал  физические процессы и представил реальную математическую модель маятника, написанную на языке программирования </a:t>
            </a:r>
            <a:r>
              <a:rPr lang="en-US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Рассказал, как на практике применяют маятники. </a:t>
            </a:r>
          </a:p>
          <a:p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Просмотрев презентацию вы узнаете</a:t>
            </a:r>
            <a:r>
              <a:rPr lang="en-US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Candara Light" panose="020E0502030303020204" pitchFamily="34" charset="0"/>
            </a:endParaRPr>
          </a:p>
          <a:p>
            <a:r>
              <a:rPr lang="ru-RU" sz="1800" dirty="0">
                <a:latin typeface="Candara Light" panose="020E0502030303020204" pitchFamily="34" charset="0"/>
              </a:rPr>
              <a:t>Как при помощи маятника найти золото?</a:t>
            </a:r>
          </a:p>
          <a:p>
            <a:r>
              <a:rPr lang="ru-RU" sz="1800" dirty="0">
                <a:latin typeface="Candara Light" panose="020E0502030303020204" pitchFamily="34" charset="0"/>
              </a:rPr>
              <a:t>Зачем люди стреляют по осциллятору </a:t>
            </a:r>
          </a:p>
          <a:p>
            <a:r>
              <a:rPr lang="ru-RU" sz="1800" dirty="0">
                <a:latin typeface="Candara Light" panose="020E0502030303020204" pitchFamily="34" charset="0"/>
              </a:rPr>
              <a:t>и при чём здесь дифференциальное уравнение колебаний ?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3E30EC-6E7E-447D-B12C-DDCEEA2AD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97" y="912465"/>
            <a:ext cx="5488103" cy="5372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ECF7A2-96FC-4C11-ADCE-B2072EB3B82B}"/>
              </a:ext>
            </a:extLst>
          </p:cNvPr>
          <p:cNvSpPr txBox="1"/>
          <p:nvPr/>
        </p:nvSpPr>
        <p:spPr>
          <a:xfrm>
            <a:off x="7677733" y="8194746"/>
            <a:ext cx="50152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C00000"/>
                </a:solidFill>
                <a:latin typeface="Candara Light" panose="020E0502030303020204" pitchFamily="34" charset="0"/>
              </a:rPr>
              <a:t>Все ссылки приведены в моей научной статье</a:t>
            </a:r>
          </a:p>
        </p:txBody>
      </p:sp>
      <p:sp>
        <p:nvSpPr>
          <p:cNvPr id="11" name="Надпись 2">
            <a:extLst>
              <a:ext uri="{FF2B5EF4-FFF2-40B4-BE49-F238E27FC236}">
                <a16:creationId xmlns:a16="http://schemas.microsoft.com/office/drawing/2014/main" id="{F5014FB4-A139-4BD8-BB67-4A82F2A64AF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1366821" y="4463711"/>
            <a:ext cx="4271010" cy="3371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C00000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Author: Andrew Sushin [</a:t>
            </a:r>
            <a:r>
              <a:rPr lang="en-US" sz="1600" dirty="0">
                <a:solidFill>
                  <a:srgbClr val="C00000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 2021 The Astromodel]</a:t>
            </a:r>
            <a:endParaRPr lang="ru-RU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37C137-59FD-404D-8992-AFAF62E36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7600" y="7124700"/>
            <a:ext cx="641309" cy="714446"/>
          </a:xfrm>
          <a:prstGeom prst="rect">
            <a:avLst/>
          </a:prstGeom>
          <a:effectLst>
            <a:outerShdw dist="50800" dir="4800000" sx="1000" sy="1000" algn="ctr" rotWithShape="0">
              <a:srgbClr val="000000"/>
            </a:outerShdw>
          </a:effectLst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C1359CE-A2B5-42F9-B247-C3F48FB9E155}"/>
              </a:ext>
            </a:extLst>
          </p:cNvPr>
          <p:cNvSpPr txBox="1">
            <a:spLocks/>
          </p:cNvSpPr>
          <p:nvPr/>
        </p:nvSpPr>
        <p:spPr>
          <a:xfrm>
            <a:off x="316100" y="889866"/>
            <a:ext cx="3552069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solidFill>
                  <a:schemeClr val="tx1"/>
                </a:solidFill>
                <a:effectLst/>
                <a:latin typeface="Gardens CM" panose="020B0502040204020203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Аннотация</a:t>
            </a:r>
            <a:br>
              <a:rPr lang="ru-RU" sz="3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CFEB51-DE6D-4DC4-B603-2EBD381DE3EB}"/>
              </a:ext>
            </a:extLst>
          </p:cNvPr>
          <p:cNvSpPr txBox="1"/>
          <p:nvPr/>
        </p:nvSpPr>
        <p:spPr>
          <a:xfrm>
            <a:off x="571500" y="6254632"/>
            <a:ext cx="6870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C00000"/>
                </a:solidFill>
                <a:latin typeface="Candara Light" panose="020E0502030303020204" pitchFamily="34" charset="0"/>
                <a:cs typeface="Calibri Light" panose="020F0302020204030204" pitchFamily="34" charset="0"/>
              </a:rPr>
              <a:t>Всё самое интересное находится в моей научной статье</a:t>
            </a:r>
          </a:p>
        </p:txBody>
      </p:sp>
    </p:spTree>
    <p:extLst>
      <p:ext uri="{BB962C8B-B14F-4D97-AF65-F5344CB8AC3E}">
        <p14:creationId xmlns:p14="http://schemas.microsoft.com/office/powerpoint/2010/main" val="2741419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E2B6C-1188-4ADB-9E71-D5DDFCD7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24517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Введение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2914F-3F0B-4CAB-8065-FB9401C54E02}"/>
              </a:ext>
            </a:extLst>
          </p:cNvPr>
          <p:cNvSpPr txBox="1"/>
          <p:nvPr/>
        </p:nvSpPr>
        <p:spPr>
          <a:xfrm>
            <a:off x="1066195" y="1580050"/>
            <a:ext cx="48901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ndara Light" panose="020E0502030303020204" pitchFamily="34" charset="0"/>
              </a:rPr>
              <a:t>Математический маятник – материальная точка (тело весьма малых размеров), подвешенное на длинной невесомой и нерастяжимой нити в поле тяжести Земли, способное совершать колебания в вертикальной плоскости.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E6742-7C5C-479D-AF54-8D145D96644D}"/>
              </a:ext>
            </a:extLst>
          </p:cNvPr>
          <p:cNvSpPr txBox="1"/>
          <p:nvPr/>
        </p:nvSpPr>
        <p:spPr>
          <a:xfrm>
            <a:off x="6616699" y="4111688"/>
            <a:ext cx="5575301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>
              <a:spcAft>
                <a:spcPts val="800"/>
              </a:spcAft>
            </a:pPr>
            <a:r>
              <a:rPr lang="ru-RU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Основной целью работы является моделирование поведения математического маятника на компьютере при помощи языка программирования “</a:t>
            </a:r>
            <a:r>
              <a:rPr lang="en-US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Python</a:t>
            </a:r>
            <a:r>
              <a:rPr lang="ru-RU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”.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spcAft>
                <a:spcPts val="800"/>
              </a:spcAft>
            </a:pPr>
            <a:r>
              <a:rPr lang="ru-RU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Для получения достоверной модели мне необходимо описать физические свойства, составить уравнения, описывающие движение маятника в постоянном гравитационном поле.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6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66FC1626-3C8F-48C1-A951-7C10A2C3A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82" y="314929"/>
            <a:ext cx="1601818" cy="598774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1200D4-603B-4A77-A28B-A59DD84E7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268" y="4089400"/>
            <a:ext cx="2956308" cy="22132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998E17-76D3-4AAB-847B-7223841AD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76" y="4192450"/>
            <a:ext cx="1414319" cy="221327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BB4791A-7851-42E7-B034-CD59CB481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629" y="4192450"/>
            <a:ext cx="1454509" cy="22132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2BC534-DF88-4A43-8090-99CE82B916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872" y="4192450"/>
            <a:ext cx="1168046" cy="2336092"/>
          </a:xfrm>
          <a:prstGeom prst="rect">
            <a:avLst/>
          </a:prstGeom>
        </p:spPr>
      </p:pic>
      <p:sp>
        <p:nvSpPr>
          <p:cNvPr id="14" name="Объект 2">
            <a:extLst>
              <a:ext uri="{FF2B5EF4-FFF2-40B4-BE49-F238E27FC236}">
                <a16:creationId xmlns:a16="http://schemas.microsoft.com/office/drawing/2014/main" id="{FA1647C5-94F8-4E91-BD6F-B50BB548B427}"/>
              </a:ext>
            </a:extLst>
          </p:cNvPr>
          <p:cNvSpPr txBox="1">
            <a:spLocks/>
          </p:cNvSpPr>
          <p:nvPr/>
        </p:nvSpPr>
        <p:spPr>
          <a:xfrm>
            <a:off x="3281357" y="1155700"/>
            <a:ext cx="6027781" cy="29337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Высокий интерес, представляемый движением маятника, замечен был впервые Галилеем.</a:t>
            </a:r>
          </a:p>
          <a:p>
            <a:pPr marL="36900" indent="0">
              <a:buNone/>
            </a:pPr>
            <a:endParaRPr lang="ru-RU" sz="1800" dirty="0">
              <a:solidFill>
                <a:schemeClr val="tx1"/>
              </a:solidFill>
              <a:effectLst/>
              <a:latin typeface="Candara Light" panose="020E05020303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1657 г. Гюйгенс применил маятник к устройству часов.</a:t>
            </a:r>
          </a:p>
          <a:p>
            <a:pPr marL="36900" indent="0">
              <a:buNone/>
            </a:pPr>
            <a:endParaRPr lang="ru-RU" sz="1800" dirty="0">
              <a:solidFill>
                <a:schemeClr val="tx1"/>
              </a:solidFill>
              <a:effectLst/>
              <a:latin typeface="Candara Light" panose="020E05020303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М. оказался таким прекрасным средством в руках исследователей природы</a:t>
            </a:r>
            <a:endParaRPr lang="ru-RU" dirty="0">
              <a:solidFill>
                <a:schemeClr val="tx1"/>
              </a:solidFill>
              <a:latin typeface="Candara Light" panose="020E050203030302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68C1B2EC-6377-414B-A0B8-A45788A3D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871" y="133725"/>
            <a:ext cx="24517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505325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4">
            <a:extLst>
              <a:ext uri="{FF2B5EF4-FFF2-40B4-BE49-F238E27FC236}">
                <a16:creationId xmlns:a16="http://schemas.microsoft.com/office/drawing/2014/main" id="{3C61168B-2996-403D-B174-930168D28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82" y="4160307"/>
            <a:ext cx="573118" cy="21423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48746-A428-4EA1-A2EB-13E871961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1" y="2146299"/>
            <a:ext cx="6326959" cy="47367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74D031-6823-47CB-890A-AA14382B8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76" y="4192450"/>
            <a:ext cx="1414319" cy="22132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D31345-B9E3-465E-9858-7503512C3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629" y="4192450"/>
            <a:ext cx="1454509" cy="22132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1FCB6A-2F77-4F06-AED4-56474BA19D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872" y="4192450"/>
            <a:ext cx="1168046" cy="2336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2426D9-6513-43B5-90A6-193C82B0BA43}"/>
              </a:ext>
            </a:extLst>
          </p:cNvPr>
          <p:cNvSpPr txBox="1"/>
          <p:nvPr/>
        </p:nvSpPr>
        <p:spPr>
          <a:xfrm>
            <a:off x="423387" y="1242753"/>
            <a:ext cx="11167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помощи его было определено ускорение, производимое в движении падающих тел земным тяготением, величина сплюснутости земного шара у полюсов и, наконец, масса земного шара и всей солнечной системы.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AF84602-5F14-45DE-962D-4A505BAB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871" y="133725"/>
            <a:ext cx="24517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027914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C6FE71-9C19-4A99-BD90-B5F6E565D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268" y="4089400"/>
            <a:ext cx="2956308" cy="22132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FBEFD5-6B99-4E1C-AC5F-5891354AA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72" y="1902195"/>
            <a:ext cx="2956308" cy="46263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D5709B-F42C-4C72-B176-66B9B3A30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629" y="4192450"/>
            <a:ext cx="1454509" cy="22132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7C8963-2169-48C1-B169-78A8FA3BC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872" y="4192450"/>
            <a:ext cx="1168046" cy="2336092"/>
          </a:xfrm>
          <a:prstGeom prst="rect">
            <a:avLst/>
          </a:prstGeom>
        </p:spPr>
      </p:pic>
      <p:pic>
        <p:nvPicPr>
          <p:cNvPr id="13" name="Объект 4">
            <a:extLst>
              <a:ext uri="{FF2B5EF4-FFF2-40B4-BE49-F238E27FC236}">
                <a16:creationId xmlns:a16="http://schemas.microsoft.com/office/drawing/2014/main" id="{6C619781-0C80-47C9-9C41-B8643E478C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82" y="4160307"/>
            <a:ext cx="573118" cy="21423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846F8B29-A6FF-49C3-8972-7DAC65A0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871" y="133725"/>
            <a:ext cx="24517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Введение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A830F1-ACAA-49C9-80E7-9B9928843792}"/>
              </a:ext>
            </a:extLst>
          </p:cNvPr>
          <p:cNvSpPr txBox="1"/>
          <p:nvPr/>
        </p:nvSpPr>
        <p:spPr>
          <a:xfrm>
            <a:off x="392590" y="1180019"/>
            <a:ext cx="11596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Применение маятников для различных целей осуществлялось с древних времён. Им пользовались в Месопотамии, Вавилоне, Ассирии, Урарту, древнем Риме и Греции. Зачастую в антинаучных целях.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3271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932B57-8C78-4C9F-AD64-E0747AFB3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268" y="4089400"/>
            <a:ext cx="2956308" cy="22132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DD1D6A-62A1-4670-9631-86D0BE969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76" y="4192450"/>
            <a:ext cx="1414319" cy="22132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78F074-5359-48F8-9A48-F2972270F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229" y="1449763"/>
            <a:ext cx="3337642" cy="50787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1E87DA-0B16-4199-AFD6-9E518A820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872" y="4192450"/>
            <a:ext cx="1168046" cy="2336092"/>
          </a:xfrm>
          <a:prstGeom prst="rect">
            <a:avLst/>
          </a:prstGeom>
        </p:spPr>
      </p:pic>
      <p:pic>
        <p:nvPicPr>
          <p:cNvPr id="11" name="Объект 4">
            <a:extLst>
              <a:ext uri="{FF2B5EF4-FFF2-40B4-BE49-F238E27FC236}">
                <a16:creationId xmlns:a16="http://schemas.microsoft.com/office/drawing/2014/main" id="{A9D911DB-C408-486E-B30E-43EC0C84DD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82" y="4160307"/>
            <a:ext cx="573118" cy="21423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DDC1910F-84BA-4226-9057-6EFBA172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871" y="133725"/>
            <a:ext cx="24517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Введение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E7CC9-1581-405D-862D-DC6E19F88E1E}"/>
              </a:ext>
            </a:extLst>
          </p:cNvPr>
          <p:cNvSpPr txBox="1"/>
          <p:nvPr/>
        </p:nvSpPr>
        <p:spPr>
          <a:xfrm>
            <a:off x="1360834" y="1386338"/>
            <a:ext cx="6077777" cy="15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геологии маятник применяют для опытного определения числового значения в разных точках земной поверхности. Для этого по достаточно большому числу колебаний маятника в том месте, где измеряют находят период его колебаний вычисляют из формулы: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56D4BD-2B19-41E8-9707-9EEF7D58365B}"/>
                  </a:ext>
                </a:extLst>
              </p:cNvPr>
              <p:cNvSpPr txBox="1"/>
              <p:nvPr/>
            </p:nvSpPr>
            <p:spPr>
              <a:xfrm>
                <a:off x="3173871" y="3229137"/>
                <a:ext cx="2470472" cy="399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type m:val="li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пр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56D4BD-2B19-41E8-9707-9EEF7D583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871" y="3229137"/>
                <a:ext cx="2470472" cy="399725"/>
              </a:xfrm>
              <a:prstGeom prst="rect">
                <a:avLst/>
              </a:prstGeom>
              <a:blipFill>
                <a:blip r:embed="rId7"/>
                <a:stretch>
                  <a:fillRect t="-106154" b="-16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71F0AD-9A8D-4EC7-9251-02BE668C2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268" y="4089400"/>
            <a:ext cx="2956308" cy="22132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6FD41A-C451-4512-8B07-6506FDE0A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76" y="4192450"/>
            <a:ext cx="1414319" cy="22132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A21C65-2E30-40B0-AEFD-92AB9322A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629" y="4192450"/>
            <a:ext cx="1454509" cy="22132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F918EFE-6FCC-4D08-9AEC-F06FB3C7D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112" y="1698498"/>
            <a:ext cx="2308440" cy="4616880"/>
          </a:xfrm>
          <a:prstGeom prst="rect">
            <a:avLst/>
          </a:prstGeom>
        </p:spPr>
      </p:pic>
      <p:pic>
        <p:nvPicPr>
          <p:cNvPr id="11" name="Объект 4">
            <a:extLst>
              <a:ext uri="{FF2B5EF4-FFF2-40B4-BE49-F238E27FC236}">
                <a16:creationId xmlns:a16="http://schemas.microsoft.com/office/drawing/2014/main" id="{ED7F6C40-85DD-402B-9451-38F8394766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82" y="4160307"/>
            <a:ext cx="573118" cy="214237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7C48B88-B00C-4E20-9AB7-51DEF32B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871" y="133725"/>
            <a:ext cx="24517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Введение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3C201-0FBB-4E6D-B237-CFAC8E298778}"/>
              </a:ext>
            </a:extLst>
          </p:cNvPr>
          <p:cNvSpPr txBox="1"/>
          <p:nvPr/>
        </p:nvSpPr>
        <p:spPr>
          <a:xfrm>
            <a:off x="1351723" y="122036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Заметное отклонение величины от нормы для какой-либо местности называют гравитационной аномалией. Определение аномалий помогает находить залежи полезных ископаемых.</a:t>
            </a:r>
            <a:r>
              <a:rPr lang="ru-RU" sz="12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Маятники используются в различных приборах, например, в сейсмографах.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550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B2F8E-A64E-41B5-B021-8375270E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2932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44F54E-995A-434A-8E8A-CA74E9AD9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07624"/>
            <a:ext cx="3416905" cy="4058751"/>
          </a:xfrm>
        </p:spPr>
        <p:txBody>
          <a:bodyPr>
            <a:normAutofit fontScale="92500"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Груз массой </a:t>
            </a:r>
            <a:r>
              <a:rPr lang="en-US" sz="1800" b="1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</a:t>
            </a:r>
            <a:r>
              <a:rPr lang="en-US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отклоняют на угол </a:t>
            </a:r>
            <a:r>
              <a:rPr lang="ru-RU" sz="1800" b="1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α</a:t>
            </a: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и затем отпускают, после чего маятник совершает колебания с определённым периодом, вычисленным из начальных параметров, задаваемых пользователем.</a:t>
            </a:r>
            <a:endParaRPr lang="ru-RU" sz="1800" dirty="0">
              <a:solidFill>
                <a:schemeClr val="tx1"/>
              </a:solidFill>
              <a:effectLst/>
              <a:latin typeface="Candara Light" panose="020E05020303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chemeClr val="tx1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Для реализации данного проекта мне необходимо ввести физические уравнения в общем виде, описывающие движение маятника.</a:t>
            </a:r>
            <a:endParaRPr lang="ru-RU" sz="1800" dirty="0">
              <a:solidFill>
                <a:schemeClr val="tx1"/>
              </a:solidFill>
              <a:effectLst/>
              <a:latin typeface="Candara Light" panose="020E05020303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ru-RU" sz="1800" i="1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867591-7A9A-4F6C-957B-B4006E5FFCF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745" y="1094598"/>
            <a:ext cx="4597460" cy="4668804"/>
          </a:xfrm>
          <a:prstGeom prst="snip2DiagRect">
            <a:avLst>
              <a:gd name="adj1" fmla="val 0"/>
              <a:gd name="adj2" fmla="val 14841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68222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F3FC9B3-1961-4F6F-B26F-932D0C74C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6997" y="3332649"/>
                <a:ext cx="4598005" cy="782151"/>
              </a:xfrm>
            </p:spPr>
            <p:txBody>
              <a:bodyPr/>
              <a:lstStyle/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d>
                        <m:d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0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F3FC9B3-1961-4F6F-B26F-932D0C74C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6997" y="3332649"/>
                <a:ext cx="4598005" cy="78215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DA13039-2C2E-4DEE-92DF-4A3AD0561959}"/>
              </a:ext>
            </a:extLst>
          </p:cNvPr>
          <p:cNvSpPr txBox="1">
            <a:spLocks/>
          </p:cNvSpPr>
          <p:nvPr/>
        </p:nvSpPr>
        <p:spPr>
          <a:xfrm>
            <a:off x="913795" y="609600"/>
            <a:ext cx="4293205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Gardens CM" panose="020B0502040204020203" pitchFamily="34" charset="0"/>
              </a:rPr>
              <a:t>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878711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88964-9F1F-44A4-B808-6D6D3716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72269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Начальные условия и 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C2C537-54C8-4970-B7ED-24C429E68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4077305" cy="577325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Давайте рассмотрим несколько вариантов отклонения маятники с небольшим шагом (0.01) при малом сопротивлении воздуха (0.03).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1.05 м (Длина маятника)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</a:t>
            </a: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 с (Период колебаний)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Вводя подобные параметры, мы получим колебания с периодом 2 секунды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исходя из этих условий мы так же можем построить три графика (две синусоиды и одна косинусоида).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7D2DA4-3C76-477E-A71F-001298286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74" y="1828800"/>
            <a:ext cx="5021879" cy="441182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5410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E69B2-CCD7-4D79-93BF-92C6D4F84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69602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Результаты выполнения заданий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B406310A-F98F-4E2C-9100-912A5523E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90700"/>
            <a:ext cx="5391194" cy="4457700"/>
          </a:xfrm>
          <a:prstGeom prst="snip2DiagRect">
            <a:avLst>
              <a:gd name="adj1" fmla="val 0"/>
              <a:gd name="adj2" fmla="val 20086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4E9CE52-BEE4-4BEB-8D1D-911F00B06E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97" b="-1"/>
          <a:stretch/>
        </p:blipFill>
        <p:spPr>
          <a:xfrm>
            <a:off x="6698689" y="3987348"/>
            <a:ext cx="5201376" cy="226105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642540-19CC-4631-9C11-4B2DC217B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688" y="1767294"/>
            <a:ext cx="989491" cy="19246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0DBAEF-5782-4557-8426-E68BE9CF7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950" y="679318"/>
            <a:ext cx="1271454" cy="301265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C3ED3-F781-49E1-BB01-E2DA5789F5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06" y="1081652"/>
            <a:ext cx="1365710" cy="261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88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B8109-0FAA-4758-A3FC-06B2CC1B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8680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Заключение и перспективы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1A03A-BF50-4733-B563-ECF2541C79EA}"/>
              </a:ext>
            </a:extLst>
          </p:cNvPr>
          <p:cNvSpPr txBox="1"/>
          <p:nvPr/>
        </p:nvSpPr>
        <p:spPr>
          <a:xfrm>
            <a:off x="1003300" y="1879600"/>
            <a:ext cx="10680700" cy="457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 смотря на развитие технологий и доступность приборов (оборудование для проведения опытов)  в наше время не каждый учитель имеет возможность продемонстрировать явление колебания математического маятника на уроке. Так, опубликовав статью и прикрепив код, я даю возможность каждому желающему воспользоваться материалами работы и выставляя нужные параметры увидеть или продемонстрировать движение маятника в научных и познавательных целях.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Перспективой данной работы является - упрощение преподавательской деятельности. В дальнейшем (при помощи языка программирования </a:t>
            </a:r>
            <a:r>
              <a:rPr lang="en-US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можно будет демонстрировать простейшие физические опыты. Плюсы программ в том, что в любой момент времени мы можем остановить процесс и подробно рассмотреть явление или закон. Ещё одним немаловажным плюсом является общедоступность работы. Это позволит сэкономить время и увеличить пользу от практических занятий.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будущем, кроме математического маятника можно будет продемонстрировать все различные физические опыты в рамках программы физики с 7 по 11 класс.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этом моя работа завешена. Спасибо за внимание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3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DA585-4934-4532-9A6F-C981D3F8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2756505" cy="97045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Gardens CM" panose="020B0502040204020203" pitchFamily="34" charset="0"/>
              </a:rPr>
              <a:t>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65069C-141D-460B-98D7-1D86FFBC883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" t="334"/>
          <a:stretch/>
        </p:blipFill>
        <p:spPr bwMode="auto">
          <a:xfrm>
            <a:off x="5841682" y="965200"/>
            <a:ext cx="4816274" cy="5547422"/>
          </a:xfrm>
          <a:prstGeom prst="snip2DiagRect">
            <a:avLst>
              <a:gd name="adj1" fmla="val 0"/>
              <a:gd name="adj2" fmla="val 11130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1C7D93-C9B0-4C18-8C3C-5162240CFB74}"/>
              </a:ext>
            </a:extLst>
          </p:cNvPr>
          <p:cNvSpPr txBox="1"/>
          <p:nvPr/>
        </p:nvSpPr>
        <p:spPr>
          <a:xfrm>
            <a:off x="913795" y="1580050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Листинг кода решения задачи: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32433-F344-466B-890F-FBAB30997E79}"/>
              </a:ext>
            </a:extLst>
          </p:cNvPr>
          <p:cNvSpPr txBox="1"/>
          <p:nvPr/>
        </p:nvSpPr>
        <p:spPr>
          <a:xfrm>
            <a:off x="622300" y="6324846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890E0E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*Полный код прикреплён на </a:t>
            </a:r>
            <a:r>
              <a:rPr lang="en-US" sz="1800" dirty="0" err="1">
                <a:solidFill>
                  <a:srgbClr val="890E0E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ru-RU" sz="1800" dirty="0">
                <a:solidFill>
                  <a:srgbClr val="890E0E"/>
                </a:solidFill>
                <a:effectLst/>
                <a:latin typeface="Candara Light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endParaRPr lang="ru-RU" sz="1400" dirty="0">
              <a:solidFill>
                <a:srgbClr val="890E0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15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740</TotalTime>
  <Words>784</Words>
  <Application>Microsoft Office PowerPoint</Application>
  <PresentationFormat>Широкоэкранный</PresentationFormat>
  <Paragraphs>77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Bendor-Medium</vt:lpstr>
      <vt:lpstr>Calibri</vt:lpstr>
      <vt:lpstr>Calisto MT</vt:lpstr>
      <vt:lpstr>Cambria Math</vt:lpstr>
      <vt:lpstr>Candara Light</vt:lpstr>
      <vt:lpstr>Gardens CM</vt:lpstr>
      <vt:lpstr>Wingdings 2</vt:lpstr>
      <vt:lpstr>Сланец</vt:lpstr>
      <vt:lpstr>Ticker</vt:lpstr>
      <vt:lpstr>Ticker</vt:lpstr>
      <vt:lpstr>Презентация PowerPoint</vt:lpstr>
      <vt:lpstr>Введение</vt:lpstr>
      <vt:lpstr>Введение</vt:lpstr>
      <vt:lpstr>Введение</vt:lpstr>
      <vt:lpstr>Введение</vt:lpstr>
      <vt:lpstr>Введение</vt:lpstr>
      <vt:lpstr>Введение</vt:lpstr>
      <vt:lpstr>Постановка задачи</vt:lpstr>
      <vt:lpstr>Презентация PowerPoint</vt:lpstr>
      <vt:lpstr>Начальные условия и параметры</vt:lpstr>
      <vt:lpstr>Результаты выполнения заданий</vt:lpstr>
      <vt:lpstr>Заключение и перспективы</vt:lpstr>
      <vt:lpstr>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Ticker</dc:title>
  <dc:creator>MaGGisteR MaGGisteR</dc:creator>
  <cp:lastModifiedBy>MaGGisteR MaGGisteR</cp:lastModifiedBy>
  <cp:revision>23</cp:revision>
  <dcterms:created xsi:type="dcterms:W3CDTF">2021-05-10T12:37:05Z</dcterms:created>
  <dcterms:modified xsi:type="dcterms:W3CDTF">2021-05-22T08:30:00Z</dcterms:modified>
</cp:coreProperties>
</file>